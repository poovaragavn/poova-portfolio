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Sorter Market is a dedicated digital marketplace that connects manufacturers, dealers, buyers, and service providers for industrial sorting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building a single platform where industries can manage their complete machine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Today's machine market is fragmented. Buyers and sellers waste time, money, and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industry moving toward automation requires reliable sorting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 is one of the fastest-growing markets for industrial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global industry is moving toward intelligent and connected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competitors sell machines. We provide a complete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solving problems that current marketplaces don't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required for industrial machines is available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connect the complete industrial ecosystem on a single digital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combines marketplace, software, and service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generate revenue from multiple channels, making the business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provide flexible plans for businesses of all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module is designed to simplify business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buying and selling process is digitized from start to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improves accuracy, efficiency, and customer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cloud-native architecture is secure, scalable, and AI-ready.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focuses on steady growth from a national platform to a global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platform offers long-term profitability with scalable recurring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goal is to create a complete digital ecosystem that simplifies every stage of the industrial equipment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1228" y="704088"/>
            <a:ext cx="10908792" cy="5577840"/>
          </a:xfrm>
          <a:prstGeom prst="roundRect">
            <a:avLst>
              <a:gd name="adj" fmla="val 8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1371600" cy="6350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42032" y="1600200"/>
            <a:ext cx="365760" cy="6350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D9"/>
                </a:solidFill>
                <a:latin typeface="Calibri"/>
              </a:rPr>
              <a:t>PITCH DECK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2E3A48"/>
                </a:solidFill>
                <a:latin typeface="Calibri"/>
              </a:rPr>
              <a:t>Sorter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8A94A3"/>
                </a:solidFill>
                <a:latin typeface="Calibri"/>
              </a:rPr>
              <a:t>AI-Powered Marketplace for Industrial Sorting Machines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9476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79476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7947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79476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37947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79476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7947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79476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794760"/>
            <a:ext cx="1234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15E6E"/>
                </a:solidFill>
                <a:latin typeface="Calibri"/>
              </a:rPr>
              <a:t>All in One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3550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Connecting manufacturers, dealers, buyers &amp; service providers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WHAT IS SORTER MARKET?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" y="1801368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2301240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737360"/>
            <a:ext cx="475945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AI-powered B2B marketplace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801368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3348" y="1737360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4516" y="2301240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2260" y="1737360"/>
            <a:ext cx="475945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Buy &amp; sell new / used machines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" y="3276600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212592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3776472"/>
            <a:ext cx="128016" cy="128016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3212592"/>
            <a:ext cx="475945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Service &amp; spare parts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3276600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3348" y="3212592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4516" y="3776472"/>
            <a:ext cx="128016" cy="128016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2260" y="3212592"/>
            <a:ext cx="475945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Finance &amp; logistics integration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" y="4751832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687824"/>
            <a:ext cx="5308092" cy="1255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" y="5251704"/>
            <a:ext cx="128016" cy="128016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687824"/>
            <a:ext cx="475945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One complete industrial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Business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" y="1801368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3465576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15E6E"/>
                </a:solidFill>
                <a:latin typeface="Calibri"/>
              </a:rPr>
              <a:t>No dedicated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1980" y="1801368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737360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737360"/>
            <a:ext cx="3465576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15E6E"/>
                </a:solidFill>
                <a:latin typeface="Calibri"/>
              </a:rPr>
              <a:t>Offline buying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012" y="1801368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1737360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1737360"/>
            <a:ext cx="3465576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15E6E"/>
                </a:solidFill>
                <a:latin typeface="Calibri"/>
              </a:rPr>
              <a:t>Lack of trusted sellers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" y="4014216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950208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50208"/>
            <a:ext cx="3465576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15E6E"/>
                </a:solidFill>
                <a:latin typeface="Calibri"/>
              </a:rPr>
              <a:t>No price transparency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1980" y="4014216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3950208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950208"/>
            <a:ext cx="3465576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15E6E"/>
                </a:solidFill>
                <a:latin typeface="Calibri"/>
              </a:rPr>
              <a:t>Difficult service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012" y="4014216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55864" y="3950208"/>
            <a:ext cx="346557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4" y="3950208"/>
            <a:ext cx="3465576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515E6E"/>
                </a:solidFill>
                <a:latin typeface="Calibri"/>
              </a:rPr>
              <a:t>High broker dependency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Industry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Industries We 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" y="2075688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Coffee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25140" y="2075688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83992" y="2011680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3992" y="2011680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3332" y="2075688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82184" y="2011680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2184" y="2011680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Tea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" y="3429000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364992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64992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Cashew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5140" y="3429000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83992" y="3364992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3992" y="3364992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Pulses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3332" y="3429000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82184" y="3364992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2184" y="3364992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Seeds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" y="4782312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718304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18304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Food 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25140" y="4782312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83992" y="4718304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83992" y="4718304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Plastic Recycling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3332" y="4782312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82184" y="4718304"/>
            <a:ext cx="2078736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2184" y="4718304"/>
            <a:ext cx="2078736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Mining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151790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1463040"/>
            <a:ext cx="35661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Market Trend</a:t>
            </a:r>
          </a:p>
        </p:txBody>
      </p:sp>
      <p:sp>
        <p:nvSpPr>
          <p:cNvPr id="39" name="Oval 38"/>
          <p:cNvSpPr/>
          <p:nvPr/>
        </p:nvSpPr>
        <p:spPr>
          <a:xfrm>
            <a:off x="7863840" y="22585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2148840"/>
            <a:ext cx="34015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Industrial Automation</a:t>
            </a:r>
          </a:p>
        </p:txBody>
      </p:sp>
      <p:sp>
        <p:nvSpPr>
          <p:cNvPr id="41" name="Oval 40"/>
          <p:cNvSpPr/>
          <p:nvPr/>
        </p:nvSpPr>
        <p:spPr>
          <a:xfrm>
            <a:off x="7863840" y="282549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5592" y="2715768"/>
            <a:ext cx="34015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AI Adoption</a:t>
            </a:r>
          </a:p>
        </p:txBody>
      </p:sp>
      <p:sp>
        <p:nvSpPr>
          <p:cNvPr id="43" name="Oval 42"/>
          <p:cNvSpPr/>
          <p:nvPr/>
        </p:nvSpPr>
        <p:spPr>
          <a:xfrm>
            <a:off x="7863840" y="3392424"/>
            <a:ext cx="100584" cy="100584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3282696"/>
            <a:ext cx="340156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Smart Manufacturing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India Market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572768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0628" y="1572768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08760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Why India?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37744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Growing manufacturing sector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2852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Make in India initiative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438144"/>
            <a:ext cx="100584" cy="100584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3328416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Rising automation demand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3913632"/>
            <a:ext cx="100584" cy="100584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4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Expanding MSMEs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389120"/>
            <a:ext cx="100584" cy="100584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279392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Large food processing industry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7334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Opportunity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2377440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Thousands of factories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852928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Growing demand for sorting machines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Global Market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572768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0628" y="1572768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08760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Global Trends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37744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AI-driven automation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2852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Industry 4.0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438144"/>
            <a:ext cx="100584" cy="100584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3328416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Smart factories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3913632"/>
            <a:ext cx="100584" cy="100584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4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Vision-based inspection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389120"/>
            <a:ext cx="100584" cy="100584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279392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Predictive maintenance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7334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Opportunity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2377440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Expanding international market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852928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Digital procurement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Competitor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572768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0628" y="1572768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08760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Existing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317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37744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IndiaMART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072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852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TradeIndia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8269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328416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Machinio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5818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4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Exapro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33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279392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Local Dealers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7334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Our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3317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377440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AI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8072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2852928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Dedicated Marketplace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28269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328416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5818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3803904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233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4279392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Spare Parts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Market Gap &amp;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572768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0628" y="1572768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08760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Market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317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37744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No specialized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072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852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No AI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8269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328416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No verified 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5818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27B7B"/>
                </a:solidFill>
                <a:latin typeface="Calibri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4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No end-to-end 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783080"/>
            <a:ext cx="37334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317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377440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First-mover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8072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852928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Huge untapped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8269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3328416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Recurring revenue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OUR PLATFORM OFFERS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Sorter Market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2692908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Buy Machines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0722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9574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2692908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8486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Sell Machines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3348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4516" y="2692908"/>
            <a:ext cx="128016" cy="128016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2260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Rent Machines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270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7122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8290" y="2692908"/>
            <a:ext cx="128016" cy="128016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6034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Spare Parts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" y="4860036"/>
            <a:ext cx="128016" cy="128016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Service Booking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0722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49574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0742" y="4860036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8486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Finance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3348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14516" y="4860036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2260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AI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Platform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572768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0628" y="1572768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08760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Connected Stakeholders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37744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Manufacturers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2852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Dealers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438144"/>
            <a:ext cx="100584" cy="100584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3328416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Buyers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3913632"/>
            <a:ext cx="100584" cy="100584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4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Service Providers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389120"/>
            <a:ext cx="100584" cy="100584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279392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Logistics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486460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3312" y="475488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Banks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534009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3312" y="523036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Admin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783080"/>
            <a:ext cx="37334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Platform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3317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2377440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Faster transactions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8072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2852928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Better collaboration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28269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A87F"/>
                </a:solidFill>
                <a:latin typeface="Calibri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3328416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Improved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572768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61264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0628" y="1572768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508760"/>
            <a:ext cx="4236415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Business Model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377440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B2B Marketplace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2852928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SaaS Platform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438144"/>
            <a:ext cx="100584" cy="100584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3328416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Service Marketplace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3913632"/>
            <a:ext cx="100584" cy="100584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3803904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Finance Marketplace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389120"/>
            <a:ext cx="100584" cy="100584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279392"/>
            <a:ext cx="51389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Advertising 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837944"/>
            <a:ext cx="82296" cy="27432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7334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3A48"/>
                </a:solidFill>
                <a:latin typeface="Calibri"/>
              </a:rPr>
              <a:t>Value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2487168"/>
            <a:ext cx="100584" cy="100584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2377440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Digital Transformation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2962656"/>
            <a:ext cx="100584" cy="100584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852928"/>
            <a:ext cx="32488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15E6E"/>
                </a:solidFill>
                <a:latin typeface="Calibri"/>
              </a:rPr>
              <a:t>Recurring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REVENUE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Revenue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2692908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Subscription 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0722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9574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2692908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8486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Listing Fees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3348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4516" y="2692908"/>
            <a:ext cx="128016" cy="128016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2260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Sales Commission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270" y="184708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7122" y="1783080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8290" y="2692908"/>
            <a:ext cx="128016" cy="128016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6034" y="1783080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Advertisements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" y="4860036"/>
            <a:ext cx="128016" cy="128016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Lead Generation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0722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49574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0742" y="4860036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8486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Finance Commission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3348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14516" y="4860036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2260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AMC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18270" y="4014216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77122" y="3950208"/>
            <a:ext cx="2544318" cy="1947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78290" y="4860036"/>
            <a:ext cx="128016" cy="128016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6034" y="3950208"/>
            <a:ext cx="1995678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Spare Parts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Subscription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" y="1801368"/>
            <a:ext cx="3368040" cy="4114800"/>
          </a:xfrm>
          <a:prstGeom prst="roundRect">
            <a:avLst>
              <a:gd name="adj" fmla="val 9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36804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368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2E3A48"/>
                </a:solidFill>
                <a:latin typeface="Calibri"/>
              </a:rPr>
              <a:t>BASIC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368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4A3"/>
                </a:solidFill>
                <a:latin typeface="Calibri"/>
              </a:rP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58340" y="3246120"/>
            <a:ext cx="822960" cy="317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Limited Listings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0748" y="1801368"/>
            <a:ext cx="3368040" cy="4114800"/>
          </a:xfrm>
          <a:prstGeom prst="roundRect">
            <a:avLst>
              <a:gd name="adj" fmla="val 9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9600" y="1737360"/>
            <a:ext cx="3368040" cy="4114800"/>
          </a:xfrm>
          <a:prstGeom prst="roundRect">
            <a:avLst>
              <a:gd name="adj" fmla="val 9000"/>
            </a:avLst>
          </a:prstGeom>
          <a:solidFill>
            <a:srgbClr val="9CC0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34940" y="20574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4940" y="2057400"/>
            <a:ext cx="1737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B8DD9"/>
                </a:solidFill>
                <a:latin typeface="Calibri"/>
              </a:rPr>
              <a:t>MOST 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2606040"/>
            <a:ext cx="3368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2E3A48"/>
                </a:solidFill>
                <a:latin typeface="Calibri"/>
              </a:rPr>
              <a:t>PROFESSIONAL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3108960"/>
            <a:ext cx="3368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E3A48"/>
                </a:solidFill>
                <a:latin typeface="Calibri"/>
              </a:rPr>
              <a:t>Paid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92140" y="3611880"/>
            <a:ext cx="822960" cy="31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3920" y="393192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Unlimited Listings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3920" y="443484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3920" y="493776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Priority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4548" y="1801368"/>
            <a:ext cx="3368040" cy="4114800"/>
          </a:xfrm>
          <a:prstGeom prst="roundRect">
            <a:avLst>
              <a:gd name="adj" fmla="val 9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3400" y="1737360"/>
            <a:ext cx="3368040" cy="4114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400" y="2240280"/>
            <a:ext cx="3368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2E3A48"/>
                </a:solidFill>
                <a:latin typeface="Calibri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3400" y="2743200"/>
            <a:ext cx="3368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4A3"/>
                </a:solidFill>
                <a:latin typeface="Calibri"/>
              </a:rPr>
              <a:t>Custom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25940" y="3246120"/>
            <a:ext cx="822960" cy="317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7720" y="356616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Custom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720" y="406908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API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7720" y="4572000"/>
            <a:ext cx="2819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E3A48"/>
                </a:solidFill>
                <a:latin typeface="Calibri"/>
              </a:rPr>
              <a:t>Dedicated Manager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PLATFORM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Functional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" y="1847088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2331720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783080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User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1980" y="1847088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331720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783080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Machine Marketplace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012" y="1847088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5864" y="1783080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7032" y="2331720"/>
            <a:ext cx="128016" cy="128016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1783080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Seller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" y="3291840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27832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3776472"/>
            <a:ext cx="128016" cy="128016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227832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Buyer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1980" y="3291840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70832" y="3227832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776472"/>
            <a:ext cx="128016" cy="128016"/>
          </a:xfrm>
          <a:prstGeom prst="ellipse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3227832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Finance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7012" y="3291840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55864" y="3227832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57032" y="3776472"/>
            <a:ext cx="128016" cy="128016"/>
          </a:xfrm>
          <a:prstGeom prst="ellipse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94776" y="3227832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" y="4736592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4672584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6968" y="5221224"/>
            <a:ext cx="128016" cy="128016"/>
          </a:xfrm>
          <a:prstGeom prst="ellipse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4672584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Spare Parts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11980" y="4736592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70832" y="4672584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0" y="5221224"/>
            <a:ext cx="128016" cy="128016"/>
          </a:xfrm>
          <a:prstGeom prst="ellipse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9744" y="4672584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Admin Panel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7012" y="4736592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55864" y="4672584"/>
            <a:ext cx="3465576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57032" y="5221224"/>
            <a:ext cx="128016" cy="128016"/>
          </a:xfrm>
          <a:prstGeom prst="ellipse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94776" y="4672584"/>
            <a:ext cx="291693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3A48"/>
                </a:solidFill>
                <a:latin typeface="Calibri"/>
              </a:rPr>
              <a:t>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END-TO-END DIGITIZED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Business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15</a:t>
            </a:r>
          </a:p>
        </p:txBody>
      </p:sp>
      <p:sp>
        <p:nvSpPr>
          <p:cNvPr id="9" name="Chevron 8"/>
          <p:cNvSpPr/>
          <p:nvPr/>
        </p:nvSpPr>
        <p:spPr>
          <a:xfrm>
            <a:off x="685800" y="1920240"/>
            <a:ext cx="2537460" cy="914400"/>
          </a:xfrm>
          <a:prstGeom prst="chevron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1</a:t>
            </a:r>
          </a:p>
        </p:txBody>
      </p:sp>
      <p:sp>
        <p:nvSpPr>
          <p:cNvPr id="11" name="Chevron 10"/>
          <p:cNvSpPr/>
          <p:nvPr/>
        </p:nvSpPr>
        <p:spPr>
          <a:xfrm>
            <a:off x="3451860" y="1920240"/>
            <a:ext cx="2537460" cy="914400"/>
          </a:xfrm>
          <a:prstGeom prst="chevron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List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860" y="2944368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2</a:t>
            </a:r>
          </a:p>
        </p:txBody>
      </p:sp>
      <p:sp>
        <p:nvSpPr>
          <p:cNvPr id="13" name="Chevron 12"/>
          <p:cNvSpPr/>
          <p:nvPr/>
        </p:nvSpPr>
        <p:spPr>
          <a:xfrm>
            <a:off x="6217920" y="1920240"/>
            <a:ext cx="2537460" cy="914400"/>
          </a:xfrm>
          <a:prstGeom prst="chevron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AI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44368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3</a:t>
            </a:r>
          </a:p>
        </p:txBody>
      </p:sp>
      <p:sp>
        <p:nvSpPr>
          <p:cNvPr id="15" name="Chevron 14"/>
          <p:cNvSpPr/>
          <p:nvPr/>
        </p:nvSpPr>
        <p:spPr>
          <a:xfrm>
            <a:off x="8983980" y="1920240"/>
            <a:ext cx="2537460" cy="914400"/>
          </a:xfrm>
          <a:prstGeom prst="chevron">
            <a:avLst/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Buyer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3980" y="2944368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4</a:t>
            </a:r>
          </a:p>
        </p:txBody>
      </p:sp>
      <p:sp>
        <p:nvSpPr>
          <p:cNvPr id="17" name="Chevron 16"/>
          <p:cNvSpPr/>
          <p:nvPr/>
        </p:nvSpPr>
        <p:spPr>
          <a:xfrm>
            <a:off x="685800" y="3749039"/>
            <a:ext cx="2537460" cy="914400"/>
          </a:xfrm>
          <a:prstGeom prst="chevron">
            <a:avLst/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Quotation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73167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5</a:t>
            </a:r>
          </a:p>
        </p:txBody>
      </p:sp>
      <p:sp>
        <p:nvSpPr>
          <p:cNvPr id="19" name="Chevron 18"/>
          <p:cNvSpPr/>
          <p:nvPr/>
        </p:nvSpPr>
        <p:spPr>
          <a:xfrm>
            <a:off x="3451860" y="3749039"/>
            <a:ext cx="2537460" cy="914400"/>
          </a:xfrm>
          <a:prstGeom prst="chevron">
            <a:avLst/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1860" y="4773167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6</a:t>
            </a:r>
          </a:p>
        </p:txBody>
      </p:sp>
      <p:sp>
        <p:nvSpPr>
          <p:cNvPr id="21" name="Chevron 20"/>
          <p:cNvSpPr/>
          <p:nvPr/>
        </p:nvSpPr>
        <p:spPr>
          <a:xfrm>
            <a:off x="6217920" y="3749039"/>
            <a:ext cx="2537460" cy="914400"/>
          </a:xfrm>
          <a:prstGeom prst="chevron">
            <a:avLst/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73167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7</a:t>
            </a:r>
          </a:p>
        </p:txBody>
      </p:sp>
      <p:sp>
        <p:nvSpPr>
          <p:cNvPr id="23" name="Chevron 22"/>
          <p:cNvSpPr/>
          <p:nvPr/>
        </p:nvSpPr>
        <p:spPr>
          <a:xfrm>
            <a:off x="8983980" y="3749039"/>
            <a:ext cx="2537460" cy="914400"/>
          </a:xfrm>
          <a:prstGeom prst="chevron">
            <a:avLst/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3A48"/>
                </a:solidFill>
                <a:latin typeface="Calibri"/>
              </a:rPr>
              <a:t>Service &amp; AMC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980" y="4773167"/>
            <a:ext cx="25374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8A94A3"/>
                </a:solidFill>
                <a:latin typeface="Calibri"/>
              </a:rPr>
              <a:t>Step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AI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AI &amp;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" y="1847088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9CC0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465576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Smart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1980" y="1847088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A8D9C2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783080"/>
            <a:ext cx="3465576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Price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012" y="1847088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1783080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F6C89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1783080"/>
            <a:ext cx="3465576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Fraud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" y="4014216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950208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EFB4B4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50208"/>
            <a:ext cx="3465576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AI Chatbot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1980" y="4014216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3950208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C6B6EC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950208"/>
            <a:ext cx="3465576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Machine Recommendation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012" y="4014216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55864" y="3950208"/>
            <a:ext cx="3465576" cy="1947672"/>
          </a:xfrm>
          <a:prstGeom prst="roundRect">
            <a:avLst>
              <a:gd name="adj" fmla="val 12000"/>
            </a:avLst>
          </a:prstGeom>
          <a:solidFill>
            <a:srgbClr val="9CC0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4" y="3950208"/>
            <a:ext cx="3465576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Market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691640"/>
            <a:ext cx="2926080" cy="658368"/>
          </a:xfrm>
          <a:prstGeom prst="roundRect">
            <a:avLst>
              <a:gd name="adj" fmla="val 22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5988" y="1755648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6400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Next.js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560320"/>
            <a:ext cx="2926080" cy="658368"/>
          </a:xfrm>
          <a:prstGeom prst="roundRect">
            <a:avLst>
              <a:gd name="adj" fmla="val 22000"/>
            </a:avLst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56032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5988" y="2624328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560320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560320"/>
            <a:ext cx="6400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Node.js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429000"/>
            <a:ext cx="2926080" cy="658368"/>
          </a:xfrm>
          <a:prstGeom prst="roundRect">
            <a:avLst>
              <a:gd name="adj" fmla="val 22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42900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5988" y="3493008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4840" y="3429000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6400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PostgreSQL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297680"/>
            <a:ext cx="2926080" cy="658368"/>
          </a:xfrm>
          <a:prstGeom prst="roundRect">
            <a:avLst>
              <a:gd name="adj" fmla="val 22000"/>
            </a:avLst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29768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Cloud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75988" y="4361688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4297680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297680"/>
            <a:ext cx="6400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Supabase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166360"/>
            <a:ext cx="2926080" cy="658368"/>
          </a:xfrm>
          <a:prstGeom prst="roundRect">
            <a:avLst>
              <a:gd name="adj" fmla="val 22000"/>
            </a:avLst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16636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5988" y="5230368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34840" y="5166360"/>
            <a:ext cx="640080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166360"/>
            <a:ext cx="6400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3A48"/>
                </a:solidFill>
                <a:latin typeface="Calibri"/>
              </a:rPr>
              <a:t>OpenAI  •  Gemini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Roadmap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46704"/>
            <a:ext cx="10469880" cy="38100"/>
          </a:xfrm>
          <a:prstGeom prst="roundRect">
            <a:avLst>
              <a:gd name="adj" fmla="val 50000"/>
            </a:avLst>
          </a:prstGeom>
          <a:solidFill>
            <a:srgbClr val="C7D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" y="2167128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9CC0EE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E3A48"/>
                </a:solidFill>
                <a:latin typeface="Calibri"/>
              </a:rPr>
              <a:t>Marketplace Launch</a:t>
            </a:r>
          </a:p>
        </p:txBody>
      </p:sp>
      <p:sp>
        <p:nvSpPr>
          <p:cNvPr id="13" name="Oval 12"/>
          <p:cNvSpPr/>
          <p:nvPr/>
        </p:nvSpPr>
        <p:spPr>
          <a:xfrm>
            <a:off x="1837944" y="3255264"/>
            <a:ext cx="164592" cy="164592"/>
          </a:xfrm>
          <a:prstGeom prst="ellipse">
            <a:avLst/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6948" y="3813047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2194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4A3"/>
                </a:solidFill>
                <a:latin typeface="Calibri"/>
              </a:rPr>
              <a:t>Core buy/sell platform goes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5868" y="2167128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4720" y="2103120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A8D9C2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2311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78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E3A48"/>
                </a:solidFill>
                <a:latin typeface="Calibri"/>
              </a:rPr>
              <a:t>AI Features</a:t>
            </a:r>
          </a:p>
        </p:txBody>
      </p:sp>
      <p:sp>
        <p:nvSpPr>
          <p:cNvPr id="21" name="Oval 20"/>
          <p:cNvSpPr/>
          <p:nvPr/>
        </p:nvSpPr>
        <p:spPr>
          <a:xfrm>
            <a:off x="4626864" y="3255264"/>
            <a:ext cx="164592" cy="164592"/>
          </a:xfrm>
          <a:prstGeom prst="ellipse">
            <a:avLst/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15868" y="3813047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74720" y="3749039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749039"/>
            <a:ext cx="2194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4A3"/>
                </a:solidFill>
                <a:latin typeface="Calibri"/>
              </a:rPr>
              <a:t>Intelligence layer added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4788" y="2167128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2103120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F6C89B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311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578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E3A48"/>
                </a:solidFill>
                <a:latin typeface="Calibri"/>
              </a:rPr>
              <a:t>Finance &amp; Services</a:t>
            </a:r>
          </a:p>
        </p:txBody>
      </p:sp>
      <p:sp>
        <p:nvSpPr>
          <p:cNvPr id="29" name="Oval 28"/>
          <p:cNvSpPr/>
          <p:nvPr/>
        </p:nvSpPr>
        <p:spPr>
          <a:xfrm>
            <a:off x="7415784" y="3255264"/>
            <a:ext cx="164592" cy="164592"/>
          </a:xfrm>
          <a:prstGeom prst="ellipse">
            <a:avLst/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4788" y="3813047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3749039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49039"/>
            <a:ext cx="2194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4A3"/>
                </a:solidFill>
                <a:latin typeface="Calibri"/>
              </a:rPr>
              <a:t>Ecosystem services enabled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3708" y="2167128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52560" y="2103120"/>
            <a:ext cx="2468880" cy="1005840"/>
          </a:xfrm>
          <a:prstGeom prst="roundRect">
            <a:avLst>
              <a:gd name="adj" fmla="val 14000"/>
            </a:avLst>
          </a:prstGeom>
          <a:solidFill>
            <a:srgbClr val="EFB4B4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2311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3A48"/>
                </a:solidFill>
                <a:latin typeface="Calibri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578608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E3A48"/>
                </a:solidFill>
                <a:latin typeface="Calibri"/>
              </a:rPr>
              <a:t>Global Expansion</a:t>
            </a:r>
          </a:p>
        </p:txBody>
      </p:sp>
      <p:sp>
        <p:nvSpPr>
          <p:cNvPr id="37" name="Oval 36"/>
          <p:cNvSpPr/>
          <p:nvPr/>
        </p:nvSpPr>
        <p:spPr>
          <a:xfrm>
            <a:off x="10204704" y="3255264"/>
            <a:ext cx="164592" cy="164592"/>
          </a:xfrm>
          <a:prstGeom prst="ellipse">
            <a:avLst/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93708" y="3813047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52560" y="3749039"/>
            <a:ext cx="2468880" cy="1280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3749039"/>
            <a:ext cx="2194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4A3"/>
                </a:solidFill>
                <a:latin typeface="Calibri"/>
              </a:rPr>
              <a:t>International markets entered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8DD9"/>
                </a:solidFill>
                <a:latin typeface="Calibri"/>
              </a:rPr>
              <a:t>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3A48"/>
                </a:solidFill>
                <a:latin typeface="Calibri"/>
              </a:rPr>
              <a:t>Financial Opportunity &amp;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188720"/>
            <a:ext cx="914400" cy="57150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0784" y="1188720"/>
            <a:ext cx="256032" cy="57150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3"/>
                </a:solidFill>
                <a:latin typeface="Calibri"/>
              </a:rPr>
              <a:t>Sorter Market — AI-Powered Marketplace for Industrial Sorting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1755648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691640"/>
            <a:ext cx="118872" cy="749808"/>
          </a:xfrm>
          <a:prstGeom prst="roundRect">
            <a:avLst>
              <a:gd name="adj" fmla="val 50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764792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Multiple Revenue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764792"/>
            <a:ext cx="5074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4A3"/>
                </a:solidFill>
                <a:latin typeface="Calibri"/>
              </a:rPr>
              <a:t>Income from subscriptions, commissions, ads &amp;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" y="2670048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606040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606040"/>
            <a:ext cx="118872" cy="749808"/>
          </a:xfrm>
          <a:prstGeom prst="roundRect">
            <a:avLst>
              <a:gd name="adj" fmla="val 50000"/>
            </a:avLst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679192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Recurring Subscription 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679192"/>
            <a:ext cx="5074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4A3"/>
                </a:solidFill>
                <a:latin typeface="Calibri"/>
              </a:rPr>
              <a:t>Predictable SaaS-style revenue every 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" y="3584448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520440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520440"/>
            <a:ext cx="118872" cy="749808"/>
          </a:xfrm>
          <a:prstGeom prst="roundRect">
            <a:avLst>
              <a:gd name="adj" fmla="val 50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593592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Low Operating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593592"/>
            <a:ext cx="5074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4A3"/>
                </a:solidFill>
                <a:latin typeface="Calibri"/>
              </a:rPr>
              <a:t>Digital-first platform with lean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" y="4498848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434840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4434840"/>
            <a:ext cx="118872" cy="749808"/>
          </a:xfrm>
          <a:prstGeom prst="roundRect">
            <a:avLst>
              <a:gd name="adj" fmla="val 50000"/>
            </a:avLst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507992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High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507992"/>
            <a:ext cx="5074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4A3"/>
                </a:solidFill>
                <a:latin typeface="Calibri"/>
              </a:rPr>
              <a:t>Cloud-native model grows across industries &amp; geographies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" y="5413248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5349240"/>
            <a:ext cx="10469880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5349240"/>
            <a:ext cx="118872" cy="749808"/>
          </a:xfrm>
          <a:prstGeom prst="roundRect">
            <a:avLst>
              <a:gd name="adj" fmla="val 50000"/>
            </a:avLst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422392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3A48"/>
                </a:solidFill>
                <a:latin typeface="Calibri"/>
              </a:rPr>
              <a:t>Strong 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422392"/>
            <a:ext cx="5074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A94A3"/>
                </a:solidFill>
                <a:latin typeface="Calibri"/>
              </a:rPr>
              <a:t>Compounding returns as the network effect kicks 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1228" y="704088"/>
            <a:ext cx="10908792" cy="5577840"/>
          </a:xfrm>
          <a:prstGeom prst="roundRect">
            <a:avLst>
              <a:gd name="adj" fmla="val 8000"/>
            </a:avLst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6012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D9"/>
                </a:solidFill>
                <a:latin typeface="Calibri"/>
              </a:rPr>
              <a:t>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E3A48"/>
                </a:solidFill>
                <a:latin typeface="Calibri"/>
              </a:rPr>
              <a:t>Become the world's leading AI-powered marketplace for industrial sorting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DD9"/>
                </a:solidFill>
                <a:latin typeface="Calibri"/>
              </a:rPr>
              <a:t>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27248"/>
            <a:ext cx="1847088" cy="731520"/>
          </a:xfrm>
          <a:prstGeom prst="roundRect">
            <a:avLst>
              <a:gd name="adj" fmla="val 28000"/>
            </a:avLst>
          </a:prstGeom>
          <a:solidFill>
            <a:srgbClr val="9CC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27248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E3A48"/>
                </a:solidFill>
                <a:latin typeface="Calibri"/>
              </a:rPr>
              <a:t>Global Expansion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127248"/>
            <a:ext cx="1847088" cy="731520"/>
          </a:xfrm>
          <a:prstGeom prst="roundRect">
            <a:avLst>
              <a:gd name="adj" fmla="val 28000"/>
            </a:avLst>
          </a:prstGeom>
          <a:solidFill>
            <a:srgbClr val="A8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3127248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E3A48"/>
                </a:solidFill>
                <a:latin typeface="Calibri"/>
              </a:rPr>
              <a:t>Mobile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127248"/>
            <a:ext cx="1847088" cy="731520"/>
          </a:xfrm>
          <a:prstGeom prst="roundRect">
            <a:avLst>
              <a:gd name="adj" fmla="val 28000"/>
            </a:avLst>
          </a:prstGeom>
          <a:solidFill>
            <a:srgbClr val="F6C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3127248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E3A48"/>
                </a:solidFill>
                <a:latin typeface="Calibri"/>
              </a:rPr>
              <a:t>IoT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127248"/>
            <a:ext cx="1847088" cy="731520"/>
          </a:xfrm>
          <a:prstGeom prst="roundRect">
            <a:avLst>
              <a:gd name="adj" fmla="val 28000"/>
            </a:avLst>
          </a:prstGeom>
          <a:solidFill>
            <a:srgbClr val="EF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3127248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E3A48"/>
                </a:solidFill>
                <a:latin typeface="Calibri"/>
              </a:rPr>
              <a:t>Predictive Maintenance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127248"/>
            <a:ext cx="1847088" cy="731520"/>
          </a:xfrm>
          <a:prstGeom prst="roundRect">
            <a:avLst>
              <a:gd name="adj" fmla="val 28000"/>
            </a:avLst>
          </a:prstGeom>
          <a:solidFill>
            <a:srgbClr val="C6B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3127248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E3A48"/>
                </a:solidFill>
                <a:latin typeface="Calibri"/>
              </a:rPr>
              <a:t>AI 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343400"/>
            <a:ext cx="9966960" cy="25400"/>
          </a:xfrm>
          <a:prstGeom prst="roundRect">
            <a:avLst>
              <a:gd name="adj" fmla="val 50000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1">
                <a:solidFill>
                  <a:srgbClr val="8A94A3"/>
                </a:solidFill>
                <a:latin typeface="Calibri"/>
              </a:rPr>
              <a:t>"Sorter Market is transforming the industrial machine marketplace</a:t>
            </a:r>
          </a:p>
          <a:p>
            <a:pPr algn="ctr">
              <a:lnSpc>
                <a:spcPct val="125000"/>
              </a:lnSpc>
            </a:pPr>
            <a:r>
              <a:rPr sz="1700" b="0" i="1">
                <a:solidFill>
                  <a:srgbClr val="8A94A3"/>
                </a:solidFill>
                <a:latin typeface="Calibri"/>
              </a:rPr>
              <a:t>through AI, trust, and digital innovation."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5B8DD9"/>
                </a:solidFill>
                <a:latin typeface="Calibri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3550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4A3"/>
                </a:solidFill>
                <a:latin typeface="Calibri"/>
              </a:rPr>
              <a:t>Sorter Market — Buy  •  Sell  •  Rent  •  Service  • 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